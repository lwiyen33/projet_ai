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689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OMNIA School of Business and Technology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Technicien Spécialisé – Développement Informatique  |  2e Année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1005840"/>
            <a:ext cx="164592" cy="41376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Intelligent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08483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Gestion de Stock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852928"/>
            <a:ext cx="502920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508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8529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Mini-Projet  ·  Intelligence Artificielle &amp; Machine Learning  ·  Scikit-learn + Flask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788920"/>
            <a:ext cx="3017520" cy="2011680"/>
          </a:xfrm>
          <a:prstGeom prst="rect">
            <a:avLst/>
          </a:prstGeom>
          <a:solidFill>
            <a:srgbClr val="12204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29077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086600" y="29077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Hatim Hanine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33375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86600" y="33375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OMNIA School of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Technology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80760" y="37673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86600" y="37673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dirty="0">
                <a:solidFill>
                  <a:schemeClr val="bg1"/>
                </a:solidFill>
                <a:latin typeface="Google Sans"/>
              </a:rPr>
              <a:t>M</a:t>
            </a:r>
            <a:r>
              <a:rPr lang="fr-FR" sz="1000" b="0" i="0" dirty="0">
                <a:solidFill>
                  <a:schemeClr val="bg1"/>
                </a:solidFill>
                <a:effectLst/>
                <a:latin typeface="Google Sans"/>
              </a:rPr>
              <a:t>ohammed </a:t>
            </a:r>
            <a:r>
              <a:rPr lang="fr-FR" sz="1000" dirty="0" err="1">
                <a:solidFill>
                  <a:schemeClr val="bg1"/>
                </a:solidFill>
                <a:latin typeface="Google Sans"/>
              </a:rPr>
              <a:t>A</a:t>
            </a:r>
            <a:r>
              <a:rPr lang="fr-FR" sz="1000" b="0" i="0" dirty="0" err="1">
                <a:solidFill>
                  <a:schemeClr val="bg1"/>
                </a:solidFill>
                <a:effectLst/>
                <a:latin typeface="Google Sans"/>
              </a:rPr>
              <a:t>itdaoud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080760" y="41970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86600" y="41970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41248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34440"/>
            <a:ext cx="502920" cy="105156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27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23444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27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1463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23444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234440"/>
            <a:ext cx="502920" cy="10515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52704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146304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Données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" y="246888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468880"/>
            <a:ext cx="502920" cy="105156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761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ML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91840" y="246888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46888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2761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&amp; Évaluation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246888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468880"/>
            <a:ext cx="502920" cy="10515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7614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6560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Flask API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370332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3703320"/>
            <a:ext cx="502920" cy="105156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95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3931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réalisation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91840" y="370332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91840" y="3703320"/>
            <a:ext cx="502920" cy="10515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0" y="3995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886200" y="3931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72200" y="3703320"/>
            <a:ext cx="2743200" cy="1051560"/>
          </a:xfrm>
          <a:prstGeom prst="rect">
            <a:avLst/>
          </a:prstGeom>
          <a:solidFill>
            <a:srgbClr val="FFFFFF"/>
          </a:solidFill>
          <a:ln w="1016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703320"/>
            <a:ext cx="502920" cy="105156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9959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66560" y="39319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Contexte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 backend intelligent pour la gestion de stock 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97680" cy="3566160"/>
          </a:xfrm>
          <a:prstGeom prst="rect">
            <a:avLst/>
          </a:prstGeom>
          <a:solidFill>
            <a:srgbClr val="0D2751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0352" y="1810512"/>
            <a:ext cx="54864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55648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 de stock → pertes de ventes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468880"/>
            <a:ext cx="54864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14016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Sur-stockage → coûts inutiles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0352" y="3127248"/>
            <a:ext cx="54864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manuelles → inefficaces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30352" y="3785616"/>
            <a:ext cx="54864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730752"/>
            <a:ext cx="3794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d'anticipation des tendances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188720"/>
            <a:ext cx="3977640" cy="3566160"/>
          </a:xfrm>
          <a:prstGeom prst="rect">
            <a:avLst/>
          </a:prstGeom>
          <a:solidFill>
            <a:srgbClr val="0D2751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29844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 IA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0" y="1810512"/>
            <a:ext cx="54864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755648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automatique sur l'historique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2468880"/>
            <a:ext cx="54864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93792" y="2414016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: rupture dans 7 jours 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3127248"/>
            <a:ext cx="54864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93792" y="3072384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de quantité à commander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0" y="3785616"/>
            <a:ext cx="54864" cy="5486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373075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intégrable dans tout système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besoin réel, une solution concrète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41248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8412480" cy="96012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2984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Scénario concret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gérant saisit « PROD-042 » → le système analyse l'historique et répond 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5669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13432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Alerte : rupture probable dans 5 jours. Recommandation : commander 120 unités. »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9992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99232"/>
            <a:ext cx="2743200" cy="64008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51560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Gérants de commerces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Petites épiceries, magasins de quartier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9992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999232"/>
            <a:ext cx="27432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931920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Responsables logistique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Entrepôts, gestion multi-produits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26480" y="299923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999232"/>
            <a:ext cx="274320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090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12280" y="312724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3640" y="37033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dans ERP ou e-commerce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réelles + génération synthétique possible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disponibles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4114800" cy="548640"/>
          </a:xfrm>
          <a:prstGeom prst="rect">
            <a:avLst/>
          </a:prstGeom>
          <a:solidFill>
            <a:srgbClr val="0D2751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00200"/>
            <a:ext cx="1005840" cy="548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62763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Store Inventory Forecasting Dataset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258568"/>
            <a:ext cx="4114800" cy="548640"/>
          </a:xfrm>
          <a:prstGeom prst="rect">
            <a:avLst/>
          </a:prstGeom>
          <a:solidFill>
            <a:srgbClr val="0D2751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58568"/>
            <a:ext cx="1005840" cy="548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58568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286000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Retail Dataset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16936"/>
            <a:ext cx="4114800" cy="548640"/>
          </a:xfrm>
          <a:prstGeom prst="rect">
            <a:avLst/>
          </a:prstGeom>
          <a:solidFill>
            <a:srgbClr val="0D2751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16936"/>
            <a:ext cx="1005840" cy="54864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16936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2944368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synthétique (pandas + numpy)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1188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du dataset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4114800" cy="40233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16002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029968"/>
            <a:ext cx="4114800" cy="457200"/>
          </a:xfrm>
          <a:prstGeom prst="rect">
            <a:avLst/>
          </a:prstGeom>
          <a:solidFill>
            <a:srgbClr val="0D2751"/>
          </a:solidFill>
          <a:ln w="6350">
            <a:solidFill>
              <a:srgbClr val="1A3A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04825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stock_actuel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204825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43800" y="204825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505456"/>
            <a:ext cx="4114800" cy="457200"/>
          </a:xfrm>
          <a:prstGeom prst="rect">
            <a:avLst/>
          </a:prstGeom>
          <a:solidFill>
            <a:srgbClr val="0A1830"/>
          </a:solidFill>
          <a:ln w="6350">
            <a:solidFill>
              <a:srgbClr val="1A3A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2374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ventes_jour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252374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43800" y="252374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2980944"/>
            <a:ext cx="4114800" cy="457200"/>
          </a:xfrm>
          <a:prstGeom prst="rect">
            <a:avLst/>
          </a:prstGeom>
          <a:solidFill>
            <a:srgbClr val="0D2751"/>
          </a:solidFill>
          <a:ln w="6350">
            <a:solidFill>
              <a:srgbClr val="1A3A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999232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delai_livraison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46520" y="299923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43800" y="299923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54880" y="3456432"/>
            <a:ext cx="4114800" cy="457200"/>
          </a:xfrm>
          <a:prstGeom prst="rect">
            <a:avLst/>
          </a:prstGeom>
          <a:solidFill>
            <a:srgbClr val="0A1830"/>
          </a:solidFill>
          <a:ln w="6350">
            <a:solidFill>
              <a:srgbClr val="1A3A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47472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produit_id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46520" y="34747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Catégorielle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43800" y="34747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3931920"/>
            <a:ext cx="4114800" cy="457200"/>
          </a:xfrm>
          <a:prstGeom prst="rect">
            <a:avLst/>
          </a:prstGeom>
          <a:solidFill>
            <a:srgbClr val="0D2751"/>
          </a:solidFill>
          <a:ln w="6350">
            <a:solidFill>
              <a:srgbClr val="1A3A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95020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rupture_prevue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46520" y="39502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Binaire 0/1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43800" y="39502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Cible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54880" y="4407408"/>
            <a:ext cx="4114800" cy="457200"/>
          </a:xfrm>
          <a:prstGeom prst="rect">
            <a:avLst/>
          </a:prstGeom>
          <a:solidFill>
            <a:srgbClr val="0A1830"/>
          </a:solidFill>
          <a:ln w="6350">
            <a:solidFill>
              <a:srgbClr val="1A3A6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4256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qte_a_commander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446520" y="44256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Numérique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43800" y="44256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Cible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· Encodage · Normalisation · Visualisation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41248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6187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61872"/>
            <a:ext cx="502920" cy="178308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8562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13716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8105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df.drop_duplicates()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" y="212140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df.fillna(df.mean())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41832" y="243230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Stock négatif → remplacé par 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41832" y="274320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pd.to_datetime(df['date'])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90872" y="126187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261872"/>
            <a:ext cx="502920" cy="1783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85623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85232" y="137160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85232" y="181051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LabelEncoder sur 'produit_id'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85232" y="212140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Cible déjà binaire (0/1)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" y="318211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3182112"/>
            <a:ext cx="502920" cy="178308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7764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1832" y="32918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41832" y="3730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StandardScaler sur features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41832" y="4041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Obligatoire pour KNN/SVM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41832" y="43525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Optionnel pour Random Forest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90872" y="3182112"/>
            <a:ext cx="4069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3182112"/>
            <a:ext cx="502920" cy="178308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7764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285232" y="32918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85232" y="373075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Histogramme du stock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85232" y="404164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Scatter : ventes vs stock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285232" y="4352544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Heatmap corrélation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85232" y="46634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Boxplot par catégorie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&amp; Évaluation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uniquement · Deux sous-problèmes complémentaires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4572000" cy="3657600"/>
          </a:xfrm>
          <a:prstGeom prst="rect">
            <a:avLst/>
          </a:prstGeom>
          <a:solidFill>
            <a:srgbClr val="0D2751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98448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297680" cy="1325880"/>
          </a:xfrm>
          <a:prstGeom prst="rect">
            <a:avLst/>
          </a:prstGeom>
          <a:solidFill>
            <a:srgbClr val="12204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28016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83080" y="1828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2860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aux classes déséquilibrées, feature importance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4297680" cy="1325880"/>
          </a:xfrm>
          <a:prstGeom prst="rect">
            <a:avLst/>
          </a:prstGeom>
          <a:solidFill>
            <a:srgbClr val="122040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91840"/>
            <a:ext cx="1280160" cy="3840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91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3337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7947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interprétable, bons résultats sur données tabulaires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4297680" cy="438912"/>
          </a:xfrm>
          <a:prstGeom prst="rect">
            <a:avLst/>
          </a:prstGeom>
          <a:solidFill>
            <a:srgbClr val="0B1E3E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5994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: 80% Train  /  20% Test  ·  random_state=42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188720"/>
            <a:ext cx="3749040" cy="3657600"/>
          </a:xfrm>
          <a:prstGeom prst="rect">
            <a:avLst/>
          </a:prstGeom>
          <a:solidFill>
            <a:srgbClr val="0D2751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12984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d'évaluation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30368" y="1783080"/>
            <a:ext cx="3474720" cy="32918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85232" y="18013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49240" y="21305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49240" y="24597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349240" y="27889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49240" y="311810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Matrice de confusion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230368" y="3520440"/>
            <a:ext cx="3474720" cy="329184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35387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49240" y="38679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49240" y="419709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RMSE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349240" y="45262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R² &gt; 0.80 visé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Flask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JSON  →  Modèle ML  →  Réponse JSON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41248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1783080" cy="118872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  <a:effectLst>
            <a:outerShdw blurRad="889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(Postman / React)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POST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30552" y="1764792"/>
            <a:ext cx="54864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5819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697480" y="1261872"/>
            <a:ext cx="1783080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blurRad="889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Flask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REST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07992" y="1764792"/>
            <a:ext cx="54864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81912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74920" y="1261872"/>
            <a:ext cx="1783080" cy="118872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  <a:effectLst>
            <a:outerShdw blurRad="889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7492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stock_model.pkl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85431" y="1764791"/>
            <a:ext cx="301751" cy="45719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13448" y="1581912"/>
            <a:ext cx="301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315880" y="1261872"/>
            <a:ext cx="1783080" cy="118872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  <a:effectLst>
            <a:outerShdw blurRad="889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880" y="132588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880" y="20116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+ quantité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2697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disponibles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47472" y="3108960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108960"/>
            <a:ext cx="685800" cy="5303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108960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78992" y="314553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95728" y="31455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rupture + quantité à commander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7472" y="3730752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3730752"/>
            <a:ext cx="685800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730752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" y="37673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/products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95728" y="3767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produits et état du stock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4352544"/>
            <a:ext cx="4206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47472" y="4352544"/>
            <a:ext cx="685800" cy="5303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352544"/>
            <a:ext cx="685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" y="4389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95728" y="4389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que l'API est opérationnelle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2697480"/>
            <a:ext cx="4023360" cy="214884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27614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JSON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98348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 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4290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"stock_actuel": 15, "ventes_jour": 8,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"delai_livraison": 3, "produit_id": 5 }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83480" y="40599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83480" y="433425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"rupture_prevue": true, "probabilite": 0.87,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"qte_recommandee": 120 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E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réalisation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étapes · 20 jours de travail estimés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36576" cy="21945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71016"/>
            <a:ext cx="640080" cy="6400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710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61872" y="1307592"/>
            <a:ext cx="7498080" cy="566928"/>
          </a:xfrm>
          <a:prstGeom prst="rect">
            <a:avLst/>
          </a:prstGeom>
          <a:solidFill>
            <a:srgbClr val="0D2751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61872" y="1307592"/>
            <a:ext cx="1645920" cy="5669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130759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jours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99232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des données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99232" y="161848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génération synthétique Python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551176"/>
            <a:ext cx="36576" cy="21945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39112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3911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61872" y="2075688"/>
            <a:ext cx="7498080" cy="566928"/>
          </a:xfrm>
          <a:prstGeom prst="rect">
            <a:avLst/>
          </a:prstGeom>
          <a:solidFill>
            <a:srgbClr val="0D2751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1872" y="2075688"/>
            <a:ext cx="164592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2075688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jours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99232" y="209397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99232" y="2386584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Nettoyage, encodage, normalisation, visualisations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319272"/>
            <a:ext cx="36576" cy="21945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07208"/>
            <a:ext cx="640080" cy="640080"/>
          </a:xfrm>
          <a:prstGeom prst="ellipse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07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61872" y="2843784"/>
            <a:ext cx="7498080" cy="566928"/>
          </a:xfrm>
          <a:prstGeom prst="rect">
            <a:avLst/>
          </a:prstGeom>
          <a:solidFill>
            <a:srgbClr val="0D2751"/>
          </a:solidFill>
          <a:ln w="10160">
            <a:solidFill>
              <a:srgbClr val="0097A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1872" y="2843784"/>
            <a:ext cx="1645920" cy="56692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28437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jours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999232" y="286207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999232" y="3154680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Entraînement, évaluation, sauvegarde joblib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" y="4087368"/>
            <a:ext cx="36576" cy="219456"/>
          </a:xfrm>
          <a:prstGeom prst="rect">
            <a:avLst/>
          </a:prstGeom>
          <a:solidFill>
            <a:srgbClr val="334466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575304"/>
            <a:ext cx="640080" cy="6400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75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61872" y="3611880"/>
            <a:ext cx="7498080" cy="566928"/>
          </a:xfrm>
          <a:prstGeom prst="rect">
            <a:avLst/>
          </a:prstGeom>
          <a:solidFill>
            <a:srgbClr val="0D2751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61872" y="3611880"/>
            <a:ext cx="1645920" cy="5669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61872" y="36118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jours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999232" y="36301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Flask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999232" y="3922776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REST, endpoints, intégration du modèle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343400"/>
            <a:ext cx="640080" cy="640080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1261872" y="4379976"/>
            <a:ext cx="7498080" cy="566928"/>
          </a:xfrm>
          <a:prstGeom prst="rect">
            <a:avLst/>
          </a:prstGeom>
          <a:solidFill>
            <a:srgbClr val="0D2751"/>
          </a:solidFill>
          <a:ln w="10160">
            <a:solidFill>
              <a:srgbClr val="FFB3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61872" y="4379976"/>
            <a:ext cx="1645920" cy="5669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261872" y="437997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jours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999232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&amp; Finalisation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999232" y="4690872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Postman, débogage, rapport, soutenance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critique &amp; 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 · Limites · Perspectives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41248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61872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2743200" cy="47548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298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Points forts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Architecture modulaire ML +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2257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Double prédiction utile en pratique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9806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API REST universelle (Postman, React…)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7355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Scikit-learn simple et documenté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261872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261872"/>
            <a:ext cx="2743200" cy="47548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5848" y="1298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18470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Ignore fêtes et promotions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32257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Déséquilibre des classes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79806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Réentraînement manuel requis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27355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Historique minimum requis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1261872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261872"/>
            <a:ext cx="2743200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81928" y="129844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Perspectives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18470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Dashboard Streamlit temps réel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2322576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Réentraînement automatique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798064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Déploiement cloud (Render)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3273552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Base de données PostgreSQL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977640"/>
            <a:ext cx="8549640" cy="896112"/>
          </a:xfrm>
          <a:prstGeom prst="rect">
            <a:avLst/>
          </a:prstGeom>
          <a:solidFill>
            <a:srgbClr val="0B1E3E"/>
          </a:solidFill>
          <a:ln w="12700">
            <a:solidFill>
              <a:srgbClr val="0B1E3E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977640"/>
            <a:ext cx="164592" cy="89611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402336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projet m'a permis de maîtriser le pipeline ML complet avec Scikit-learn, de développer une API REST avec Flask, et de comprendre comment intégrer l'IA dans une application concrète et utile.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773</Words>
  <Application>Microsoft Office PowerPoint</Application>
  <PresentationFormat>Affichage à l'écran (16:9)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Google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Intelligent pour la Gestion de Stock</dc:title>
  <dc:subject>PptxGenJS Presentation</dc:subject>
  <dc:creator>Hatim Hanine</dc:creator>
  <cp:lastModifiedBy>hatim</cp:lastModifiedBy>
  <cp:revision>3</cp:revision>
  <dcterms:created xsi:type="dcterms:W3CDTF">2026-04-06T22:57:51Z</dcterms:created>
  <dcterms:modified xsi:type="dcterms:W3CDTF">2026-04-06T23:43:01Z</dcterms:modified>
</cp:coreProperties>
</file>